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85B294E-EDFC-6DFC-23BD-EC4CA9007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40A217A8-1F0A-23D6-757D-CEB7D8290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C792A5C-1A92-00AA-6F1D-786E40D3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5EB0D5-F785-3232-5A4E-EF1E64A9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E9ECFD-2BA0-26B7-0626-D93C721A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5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D6F85DC-467A-6DC1-FC28-CAD1D151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C22FF89-3857-3B8C-8A18-84160F1E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C781C84-B57F-9CCA-A028-C17C8F68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BD90105-ABE5-9EB5-408E-FC3FE28A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0659605-D07F-57A6-86E6-7DA8C5A1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2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F05AC6-7AA1-F6CD-76B2-C6128B08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BA5309F-4D88-3197-95C3-2D1231E41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3DA9380-79C7-66E2-2C1D-FB965E4F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C38F2D9-8EDC-80CB-5940-3C74C8E4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989767-3EA7-77FB-27C6-4392BA21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5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386B2A9-3935-6111-CA0E-8B0464E8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9275E2C-BF28-A1AE-20B6-C8010E84A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62A56A37-74E5-E518-7246-6DDA88076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D7C1F12-3FF0-02AF-B37A-7C85C99D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6CA4956-A492-FC0D-26A8-8D0DE219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D58BEA8-3FE8-05B1-8ED5-0069DA94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F936EC6-557A-042F-CCB2-39B7F5BB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6F2B3EF-01F8-FD77-2ABF-5F9AEB44F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BA4CFC13-D5DA-D2B8-476D-B40ED7038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1918DCFA-452F-72BE-8362-F630E54D1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BCDEF3-4798-E882-D05F-75609335F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1D798A50-E950-528B-8969-A0EACDF5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D4CF2914-6AAE-0321-B0CF-7AE1DA99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DC85A7C-0F77-3F74-F5B5-ADB29942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0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F1EA275-2E63-3561-C850-90C5A66B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7CA192B-4E36-70B0-8540-A22BA39D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B9C088F8-4951-E1A8-E178-3EFB2FDE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079EEEA4-C7E7-DE25-A7E8-73E2085A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6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626F764B-8D74-81D4-AA64-27062698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022224E6-B3F3-868B-47E2-E1771F43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7AB3A5E-BB55-3117-A1DC-202FDD7D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2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C54FB26-7079-EA0A-96D3-814EDD99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8119D49-78AA-7357-ACFF-EFFBA17B1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D6FEF7B-42C8-C3E1-05B4-FD7199945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85CBA9E-F8D6-D085-DAD6-A8D79CAFA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8FF2B04-9114-1938-E41A-8FC8D6C9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FEF9D542-1027-1587-DD2C-1112A9FB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2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28BB0D3-8170-4BA6-F260-FFBA252E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E5900FCC-42F6-9035-88B3-5BC8FFCDA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AE1F9C2-967A-3755-9D1E-564BB13F2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0957545C-EF96-3075-DED7-171DCB84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D6F06E1-5CE9-D398-714C-6B57A45F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CF83DA63-2DAA-5B88-43D7-3D3AB528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FD132E5-38D1-CE69-D6A9-12EE453A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C897570-B25F-BA31-D58C-CB92204C1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718C42F-19E7-D17C-518A-108C55C4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12688DF-C566-6764-862C-F65E36D3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2E68F5E-7C65-1F48-F502-A23210AE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4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9EECCD52-3237-C7BE-1E80-0EFCB9256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AFBCE0F9-8E5B-6DA7-C805-B7E4F0F2F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16F11D7-9401-B0E3-E7AA-DD93E57E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B5B5D1C-D2EC-4CE4-5426-ABAF8407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F10D1F3-387E-4949-1B55-61D4DF4F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7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66181628-C71C-16B9-A42C-C04C1BEE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41AB68BB-608B-77DB-5204-6340192F1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3D4B911-9B1A-42CF-3838-A54FA1D91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C9FDA-0CCD-4B2A-A879-61BC3A0A90E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01FA73D-6AAA-7A39-B156-A3C82D1A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09C3A6A-C45B-0E22-E837-A15F29C75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066ED-3696-4C15-B8B2-2BDA25E1C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7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A81CE88-0E5B-F3D7-0EA6-4E3B68808A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Relational vs NoSQL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6B7AF5E3-A2A3-F6F8-484B-279305E71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Team: Telu Mihai-Sebastian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1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B68DFEB-0AEF-4DA5-C6C1-B38E5F61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Decizii</a:t>
            </a:r>
            <a:r>
              <a:rPr lang="en-US" b="1" dirty="0"/>
              <a:t> </a:t>
            </a:r>
            <a:r>
              <a:rPr lang="en-US" b="1" dirty="0" err="1"/>
              <a:t>arhitecturale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850FB8D-B526-2E45-A267-F6DB8D086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vorbim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de date </a:t>
            </a:r>
            <a:r>
              <a:rPr lang="en-US" dirty="0" err="1"/>
              <a:t>relaționale</a:t>
            </a:r>
            <a:r>
              <a:rPr lang="en-US" dirty="0"/>
              <a:t> versus NoSQL, </a:t>
            </a:r>
            <a:r>
              <a:rPr lang="en-US" dirty="0" err="1"/>
              <a:t>discutăm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puțin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„single database” versus „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r>
              <a:rPr lang="en-US" dirty="0"/>
              <a:t>”.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, </a:t>
            </a:r>
            <a:r>
              <a:rPr lang="en-US" dirty="0" err="1"/>
              <a:t>majoritatea</a:t>
            </a:r>
            <a:r>
              <a:rPr lang="en-US" dirty="0"/>
              <a:t> SGBD-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relaționale</a:t>
            </a:r>
            <a:r>
              <a:rPr lang="en-US" dirty="0"/>
              <a:t> sunt </a:t>
            </a:r>
            <a:r>
              <a:rPr lang="en-US" dirty="0" err="1"/>
              <a:t>optimizate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tranzacții</a:t>
            </a:r>
            <a:r>
              <a:rPr lang="en-US" dirty="0"/>
              <a:t> ACID, </a:t>
            </a:r>
            <a:r>
              <a:rPr lang="en-US" dirty="0" err="1"/>
              <a:t>scalând</a:t>
            </a:r>
            <a:r>
              <a:rPr lang="en-US" dirty="0"/>
              <a:t> vertical (server </a:t>
            </a:r>
            <a:r>
              <a:rPr lang="en-US" dirty="0" err="1"/>
              <a:t>unic</a:t>
            </a:r>
            <a:r>
              <a:rPr lang="en-US" dirty="0"/>
              <a:t> cu </a:t>
            </a:r>
            <a:r>
              <a:rPr lang="en-US" dirty="0" err="1"/>
              <a:t>multă</a:t>
            </a:r>
            <a:r>
              <a:rPr lang="en-US" dirty="0"/>
              <a:t> </a:t>
            </a:r>
            <a:r>
              <a:rPr lang="en-US" dirty="0" err="1"/>
              <a:t>memorie</a:t>
            </a:r>
            <a:r>
              <a:rPr lang="en-US" dirty="0"/>
              <a:t>),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NoSQL sunt </a:t>
            </a:r>
            <a:r>
              <a:rPr lang="en-US" dirty="0" err="1"/>
              <a:t>proiectate</a:t>
            </a:r>
            <a:r>
              <a:rPr lang="en-US" dirty="0"/>
              <a:t> </a:t>
            </a:r>
            <a:r>
              <a:rPr lang="en-US" dirty="0" err="1"/>
              <a:t>nativ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distribuție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scalare</a:t>
            </a:r>
            <a:r>
              <a:rPr lang="en-US" dirty="0"/>
              <a:t> </a:t>
            </a:r>
            <a:r>
              <a:rPr lang="en-US" dirty="0" err="1"/>
              <a:t>orizontală</a:t>
            </a:r>
            <a:r>
              <a:rPr lang="en-US" dirty="0"/>
              <a:t>, </a:t>
            </a:r>
            <a:r>
              <a:rPr lang="en-US" dirty="0" err="1"/>
              <a:t>funcționând</a:t>
            </a:r>
            <a:r>
              <a:rPr lang="en-US" dirty="0"/>
              <a:t> sub </a:t>
            </a:r>
            <a:r>
              <a:rPr lang="en-US" dirty="0" err="1"/>
              <a:t>constrângerile</a:t>
            </a:r>
            <a:r>
              <a:rPr lang="en-US" dirty="0"/>
              <a:t> </a:t>
            </a:r>
            <a:r>
              <a:rPr lang="en-US" dirty="0" err="1"/>
              <a:t>teoremei</a:t>
            </a:r>
            <a:r>
              <a:rPr lang="en-US" dirty="0"/>
              <a:t> CAP.</a:t>
            </a:r>
          </a:p>
          <a:p>
            <a:pPr marL="0" indent="0">
              <a:buNone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, am ales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folosesc</a:t>
            </a:r>
            <a:r>
              <a:rPr lang="en-US" dirty="0"/>
              <a:t> Oracle Database 19c ca </a:t>
            </a:r>
            <a:r>
              <a:rPr lang="en-US" dirty="0" err="1"/>
              <a:t>reprezentant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SQL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configurații</a:t>
            </a:r>
            <a:r>
              <a:rPr lang="en-US" dirty="0"/>
              <a:t> MongoDB </a:t>
            </a:r>
            <a:r>
              <a:rPr lang="en-US" dirty="0" err="1"/>
              <a:t>pentru</a:t>
            </a:r>
            <a:r>
              <a:rPr lang="en-US" dirty="0"/>
              <a:t> NoSQL : o </a:t>
            </a:r>
            <a:r>
              <a:rPr lang="en-US" dirty="0" err="1"/>
              <a:t>instanță</a:t>
            </a:r>
            <a:r>
              <a:rPr lang="en-US" dirty="0"/>
              <a:t> Standalone, un Replica Set </a:t>
            </a:r>
            <a:r>
              <a:rPr lang="en-US" dirty="0" err="1"/>
              <a:t>și</a:t>
            </a:r>
            <a:r>
              <a:rPr lang="en-US" dirty="0"/>
              <a:t> un Sharded Cluster,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utilizând</a:t>
            </a:r>
            <a:r>
              <a:rPr lang="en-US" dirty="0"/>
              <a:t> </a:t>
            </a:r>
            <a:r>
              <a:rPr lang="en-US" dirty="0" err="1"/>
              <a:t>același</a:t>
            </a:r>
            <a:r>
              <a:rPr lang="en-US" dirty="0"/>
              <a:t> set de date. </a:t>
            </a:r>
          </a:p>
        </p:txBody>
      </p:sp>
    </p:spTree>
    <p:extLst>
      <p:ext uri="{BB962C8B-B14F-4D97-AF65-F5344CB8AC3E}">
        <p14:creationId xmlns:p14="http://schemas.microsoft.com/office/powerpoint/2010/main" val="301652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406AA6D-2FD8-C9C6-A99B-21E26653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Decizii</a:t>
            </a:r>
            <a:r>
              <a:rPr lang="en-US" b="1" dirty="0"/>
              <a:t> de </a:t>
            </a:r>
            <a:r>
              <a:rPr lang="en-US" b="1" dirty="0" err="1"/>
              <a:t>modelare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ORACLE (FN3)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894CAE0F-B484-3FE7-C6A6-2DE99495F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504" y="1825625"/>
            <a:ext cx="5602991" cy="4351338"/>
          </a:xfrm>
        </p:spPr>
      </p:pic>
    </p:spTree>
    <p:extLst>
      <p:ext uri="{BB962C8B-B14F-4D97-AF65-F5344CB8AC3E}">
        <p14:creationId xmlns:p14="http://schemas.microsoft.com/office/powerpoint/2010/main" val="406068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ACE4FAB-EFC8-7F52-025D-60F92B2C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Decizii</a:t>
            </a:r>
            <a:r>
              <a:rPr lang="en-US" b="1" dirty="0"/>
              <a:t> de </a:t>
            </a:r>
            <a:r>
              <a:rPr lang="en-US" b="1" dirty="0" err="1"/>
              <a:t>modelare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MongoDB (</a:t>
            </a:r>
            <a:r>
              <a:rPr lang="en-US" b="1" dirty="0" err="1"/>
              <a:t>denormalizare</a:t>
            </a:r>
            <a:r>
              <a:rPr lang="en-US" b="1" dirty="0"/>
              <a:t>: Embedding, Extended Reference Pattern </a:t>
            </a:r>
            <a:r>
              <a:rPr lang="en-US" b="1" dirty="0" err="1"/>
              <a:t>și</a:t>
            </a:r>
            <a:r>
              <a:rPr lang="en-US" b="1" dirty="0"/>
              <a:t> Subset Pattern)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34651F75-278F-CB29-10BE-39408CD59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987" y="1858169"/>
            <a:ext cx="7058025" cy="4286250"/>
          </a:xfrm>
        </p:spPr>
      </p:pic>
    </p:spTree>
    <p:extLst>
      <p:ext uri="{BB962C8B-B14F-4D97-AF65-F5344CB8AC3E}">
        <p14:creationId xmlns:p14="http://schemas.microsoft.com/office/powerpoint/2010/main" val="280332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453ED6B-8410-5254-F3DF-97B73206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Diferențe cheie de modelare și arhitectură între SQL și NoSQL (Oracle vs MongoDB)</a:t>
            </a:r>
            <a:br>
              <a:rPr lang="pt-BR" b="1" dirty="0"/>
            </a:br>
            <a:endParaRPr lang="en-US" dirty="0"/>
          </a:p>
        </p:txBody>
      </p:sp>
      <p:pic>
        <p:nvPicPr>
          <p:cNvPr id="5" name="Substituent conținut 4" descr="O imagine care conține text, captură de ecran, meniu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D1F3AAE-86ED-AA05-7B8A-9E97F8025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517" y="1825625"/>
            <a:ext cx="90869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6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BF70734-FFBB-C0A0-71F3-C17AE7B9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ACID vs CAP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B643070-2EA7-8D91-8DCD-71CBF909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Consistență</a:t>
            </a:r>
            <a:r>
              <a:rPr lang="en-US" b="1" dirty="0"/>
              <a:t> CAP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Fiind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server, Oracle nu are </a:t>
            </a:r>
            <a:r>
              <a:rPr lang="en-US" dirty="0" err="1"/>
              <a:t>probleme</a:t>
            </a:r>
            <a:r>
              <a:rPr lang="en-US" dirty="0"/>
              <a:t> de </a:t>
            </a:r>
            <a:r>
              <a:rPr lang="en-US" dirty="0" err="1"/>
              <a:t>consistență</a:t>
            </a:r>
            <a:r>
              <a:rPr lang="en-US" dirty="0"/>
              <a:t>,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tranzacțiile</a:t>
            </a:r>
            <a:r>
              <a:rPr lang="en-US" dirty="0"/>
              <a:t> sunt </a:t>
            </a:r>
            <a:r>
              <a:rPr lang="en-US" b="1" dirty="0" err="1"/>
              <a:t>izolate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țin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en-US" dirty="0"/>
              <a:t> de </a:t>
            </a:r>
            <a:r>
              <a:rPr lang="en-US" b="1" dirty="0" err="1"/>
              <a:t>atomicitate</a:t>
            </a:r>
            <a:r>
              <a:rPr lang="en-US" dirty="0"/>
              <a:t>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sesiuni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se </a:t>
            </a:r>
            <a:r>
              <a:rPr lang="en-US" dirty="0" err="1"/>
              <a:t>văd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confirmate</a:t>
            </a:r>
            <a:r>
              <a:rPr lang="en-US" dirty="0"/>
              <a:t> (committed). Pe de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, MongoDB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niveluri</a:t>
            </a:r>
            <a:r>
              <a:rPr lang="en-US" dirty="0"/>
              <a:t> de </a:t>
            </a:r>
            <a:r>
              <a:rPr lang="en-US" dirty="0" err="1"/>
              <a:t>consistență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configurația</a:t>
            </a:r>
            <a:r>
              <a:rPr lang="en-US" dirty="0"/>
              <a:t> </a:t>
            </a:r>
            <a:r>
              <a:rPr lang="en-US" dirty="0" err="1"/>
              <a:t>aleasă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Standalone: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 </a:t>
            </a:r>
            <a:r>
              <a:rPr lang="en-US" dirty="0" err="1"/>
              <a:t>puternică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operațiile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de un </a:t>
            </a:r>
            <a:r>
              <a:rPr lang="en-US" dirty="0" err="1"/>
              <a:t>singur</a:t>
            </a:r>
            <a:r>
              <a:rPr lang="en-US" dirty="0"/>
              <a:t> nod.</a:t>
            </a:r>
          </a:p>
          <a:p>
            <a:pPr marL="0" indent="0">
              <a:buNone/>
            </a:pPr>
            <a:r>
              <a:rPr lang="en-US" dirty="0"/>
              <a:t>- Replica Set: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 “</a:t>
            </a:r>
            <a:r>
              <a:rPr lang="en-US" dirty="0" err="1"/>
              <a:t>eventuală</a:t>
            </a:r>
            <a:r>
              <a:rPr lang="en-US" dirty="0"/>
              <a:t>” (</a:t>
            </a:r>
            <a:r>
              <a:rPr lang="en-US" dirty="0" err="1"/>
              <a:t>în</a:t>
            </a:r>
            <a:r>
              <a:rPr lang="en-US" dirty="0"/>
              <a:t> mod implicit),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configurat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 </a:t>
            </a:r>
            <a:r>
              <a:rPr lang="en-US" dirty="0" err="1"/>
              <a:t>puternică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setarea</a:t>
            </a:r>
            <a:r>
              <a:rPr lang="en-US" dirty="0"/>
              <a:t> Write Concern la "majority" </a:t>
            </a:r>
            <a:r>
              <a:rPr lang="en-US" dirty="0" err="1"/>
              <a:t>și</a:t>
            </a:r>
            <a:r>
              <a:rPr lang="en-US" dirty="0"/>
              <a:t> Read Preference la "primary".</a:t>
            </a:r>
          </a:p>
          <a:p>
            <a:pPr marL="0" indent="0">
              <a:buNone/>
            </a:pPr>
            <a:r>
              <a:rPr lang="en-US" dirty="0"/>
              <a:t>- Sharded Cluster: Similar cu Replica Set,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 </a:t>
            </a:r>
            <a:r>
              <a:rPr lang="en-US" dirty="0" err="1"/>
              <a:t>eventuală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configurat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consistență</a:t>
            </a:r>
            <a:r>
              <a:rPr lang="en-US" dirty="0"/>
              <a:t> </a:t>
            </a:r>
            <a:r>
              <a:rPr lang="en-US" dirty="0" err="1"/>
              <a:t>puternică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setarea</a:t>
            </a:r>
            <a:r>
              <a:rPr lang="en-US" dirty="0"/>
              <a:t> Write Concern </a:t>
            </a:r>
            <a:r>
              <a:rPr lang="en-US" dirty="0" err="1"/>
              <a:t>și</a:t>
            </a:r>
            <a:r>
              <a:rPr lang="en-US" dirty="0"/>
              <a:t> Read Preference </a:t>
            </a:r>
            <a:r>
              <a:rPr lang="en-US" dirty="0" err="1"/>
              <a:t>corespunzătoare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MongoDB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autocommited</a:t>
            </a:r>
            <a:r>
              <a:rPr lang="en-US" dirty="0"/>
              <a:t>, </a:t>
            </a:r>
            <a:r>
              <a:rPr lang="en-US" dirty="0" err="1"/>
              <a:t>adică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operație</a:t>
            </a:r>
            <a:r>
              <a:rPr lang="en-US" dirty="0"/>
              <a:t> de </a:t>
            </a:r>
            <a:r>
              <a:rPr lang="en-US" dirty="0" err="1"/>
              <a:t>scriere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confirmată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efectuată</a:t>
            </a:r>
            <a:r>
              <a:rPr lang="en-US" dirty="0"/>
              <a:t>, </a:t>
            </a:r>
            <a:r>
              <a:rPr lang="en-US" dirty="0" err="1"/>
              <a:t>fără</a:t>
            </a:r>
            <a:r>
              <a:rPr lang="en-US" dirty="0"/>
              <a:t> a </a:t>
            </a:r>
            <a:r>
              <a:rPr lang="en-US" dirty="0" err="1"/>
              <a:t>necesita</a:t>
            </a:r>
            <a:r>
              <a:rPr lang="en-US" dirty="0"/>
              <a:t> o </a:t>
            </a:r>
            <a:r>
              <a:rPr lang="en-US" dirty="0" err="1"/>
              <a:t>tranzacție</a:t>
            </a:r>
            <a:r>
              <a:rPr lang="en-US" dirty="0"/>
              <a:t> </a:t>
            </a:r>
            <a:r>
              <a:rPr lang="en-US" dirty="0" err="1"/>
              <a:t>explicită</a:t>
            </a:r>
            <a:r>
              <a:rPr lang="en-US" dirty="0"/>
              <a:t>. Deci,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lucrăm</a:t>
            </a:r>
            <a:r>
              <a:rPr lang="en-US" dirty="0"/>
              <a:t> pe </a:t>
            </a:r>
            <a:r>
              <a:rPr lang="en-US" dirty="0" err="1"/>
              <a:t>același</a:t>
            </a:r>
            <a:r>
              <a:rPr lang="en-US" dirty="0"/>
              <a:t> nod, </a:t>
            </a:r>
            <a:r>
              <a:rPr lang="en-US" dirty="0" err="1"/>
              <a:t>datele</a:t>
            </a:r>
            <a:r>
              <a:rPr lang="en-US" dirty="0"/>
              <a:t> pot fi </a:t>
            </a:r>
            <a:r>
              <a:rPr lang="en-US" dirty="0" err="1"/>
              <a:t>alterate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operatii</a:t>
            </a:r>
            <a:r>
              <a:rPr lang="en-US" dirty="0"/>
              <a:t> </a:t>
            </a:r>
            <a:r>
              <a:rPr lang="en-US" dirty="0" err="1"/>
              <a:t>concurente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duce la </a:t>
            </a:r>
            <a:r>
              <a:rPr lang="en-US" dirty="0" err="1"/>
              <a:t>inconsistențe</a:t>
            </a:r>
            <a:r>
              <a:rPr lang="en-US" dirty="0"/>
              <a:t> </a:t>
            </a:r>
            <a:r>
              <a:rPr lang="en-US" dirty="0" err="1"/>
              <a:t>temporare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45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39822D4-9C4C-898B-1053-A2B3720F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ACID vs CAP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0885953-6C00-C4D8-0C73-C811B8C71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3300" b="1" dirty="0" err="1"/>
              <a:t>Toleranță</a:t>
            </a:r>
            <a:r>
              <a:rPr lang="en-US" sz="3300" b="1" dirty="0"/>
              <a:t> la </a:t>
            </a:r>
            <a:r>
              <a:rPr lang="en-US" sz="3300" b="1" dirty="0" err="1"/>
              <a:t>Partiționare</a:t>
            </a:r>
            <a:endParaRPr lang="en-US" sz="3300" dirty="0"/>
          </a:p>
          <a:p>
            <a:pPr marL="0" indent="0">
              <a:buNone/>
            </a:pPr>
            <a:r>
              <a:rPr lang="en-US" sz="3300" dirty="0" err="1"/>
              <a:t>Fiind</a:t>
            </a:r>
            <a:r>
              <a:rPr lang="en-US" sz="3300" dirty="0"/>
              <a:t> un </a:t>
            </a:r>
            <a:r>
              <a:rPr lang="en-US" sz="3300" dirty="0" err="1"/>
              <a:t>singur</a:t>
            </a:r>
            <a:r>
              <a:rPr lang="en-US" sz="3300" dirty="0"/>
              <a:t> server, Oracle nu are </a:t>
            </a:r>
            <a:r>
              <a:rPr lang="en-US" sz="3300" dirty="0" err="1"/>
              <a:t>toleranță</a:t>
            </a:r>
            <a:r>
              <a:rPr lang="en-US" sz="3300" dirty="0"/>
              <a:t> la </a:t>
            </a:r>
            <a:r>
              <a:rPr lang="en-US" sz="3300" dirty="0" err="1"/>
              <a:t>partiționare</a:t>
            </a:r>
            <a:r>
              <a:rPr lang="en-US" sz="3300" dirty="0"/>
              <a:t>; </a:t>
            </a:r>
            <a:r>
              <a:rPr lang="en-US" sz="3300" dirty="0" err="1"/>
              <a:t>dacă</a:t>
            </a:r>
            <a:r>
              <a:rPr lang="en-US" sz="3300" dirty="0"/>
              <a:t> </a:t>
            </a:r>
            <a:r>
              <a:rPr lang="en-US" sz="3300" dirty="0" err="1"/>
              <a:t>serverul</a:t>
            </a:r>
            <a:r>
              <a:rPr lang="en-US" sz="3300" dirty="0"/>
              <a:t> cade, </a:t>
            </a:r>
            <a:r>
              <a:rPr lang="en-US" sz="3300" dirty="0" err="1"/>
              <a:t>baza</a:t>
            </a:r>
            <a:r>
              <a:rPr lang="en-US" sz="3300" dirty="0"/>
              <a:t> de date </a:t>
            </a:r>
            <a:r>
              <a:rPr lang="en-US" sz="3300" dirty="0" err="1"/>
              <a:t>devine</a:t>
            </a:r>
            <a:r>
              <a:rPr lang="en-US" sz="3300" dirty="0"/>
              <a:t> </a:t>
            </a:r>
            <a:r>
              <a:rPr lang="en-US" sz="3300" dirty="0" err="1"/>
              <a:t>indisponibilă</a:t>
            </a:r>
            <a:r>
              <a:rPr lang="en-US" sz="3300" dirty="0"/>
              <a:t>. Pe de </a:t>
            </a:r>
            <a:r>
              <a:rPr lang="en-US" sz="3300" dirty="0" err="1"/>
              <a:t>altă</a:t>
            </a:r>
            <a:r>
              <a:rPr lang="en-US" sz="3300" dirty="0"/>
              <a:t> </a:t>
            </a:r>
            <a:r>
              <a:rPr lang="en-US" sz="3300" dirty="0" err="1"/>
              <a:t>parte</a:t>
            </a:r>
            <a:r>
              <a:rPr lang="en-US" sz="3300" dirty="0"/>
              <a:t>, MongoDB </a:t>
            </a:r>
            <a:r>
              <a:rPr lang="en-US" sz="3300" dirty="0" err="1"/>
              <a:t>este</a:t>
            </a:r>
            <a:r>
              <a:rPr lang="en-US" sz="3300" dirty="0"/>
              <a:t> </a:t>
            </a:r>
            <a:r>
              <a:rPr lang="en-US" sz="3300" dirty="0" err="1"/>
              <a:t>proiectat</a:t>
            </a:r>
            <a:r>
              <a:rPr lang="en-US" sz="3300" dirty="0"/>
              <a:t> </a:t>
            </a:r>
            <a:r>
              <a:rPr lang="en-US" sz="3300" dirty="0" err="1"/>
              <a:t>pentru</a:t>
            </a:r>
            <a:r>
              <a:rPr lang="en-US" sz="3300" dirty="0"/>
              <a:t> a </a:t>
            </a:r>
            <a:r>
              <a:rPr lang="en-US" sz="3300" dirty="0" err="1"/>
              <a:t>funcționa</a:t>
            </a:r>
            <a:r>
              <a:rPr lang="en-US" sz="3300" dirty="0"/>
              <a:t> </a:t>
            </a:r>
            <a:r>
              <a:rPr lang="en-US" sz="3300" dirty="0" err="1"/>
              <a:t>în</a:t>
            </a:r>
            <a:r>
              <a:rPr lang="en-US" sz="3300" dirty="0"/>
              <a:t> </a:t>
            </a:r>
            <a:r>
              <a:rPr lang="en-US" sz="3300" dirty="0" err="1"/>
              <a:t>medii</a:t>
            </a:r>
            <a:r>
              <a:rPr lang="en-US" sz="3300" dirty="0"/>
              <a:t> </a:t>
            </a:r>
            <a:r>
              <a:rPr lang="en-US" sz="3300" dirty="0" err="1"/>
              <a:t>distribuite</a:t>
            </a:r>
            <a:r>
              <a:rPr lang="en-US" sz="3300" dirty="0"/>
              <a:t> </a:t>
            </a:r>
            <a:r>
              <a:rPr lang="en-US" sz="3300" dirty="0" err="1"/>
              <a:t>și</a:t>
            </a:r>
            <a:r>
              <a:rPr lang="en-US" sz="3300" dirty="0"/>
              <a:t> </a:t>
            </a:r>
            <a:r>
              <a:rPr lang="en-US" sz="3300" dirty="0" err="1"/>
              <a:t>oferă</a:t>
            </a:r>
            <a:r>
              <a:rPr lang="en-US" sz="3300" dirty="0"/>
              <a:t> </a:t>
            </a:r>
            <a:r>
              <a:rPr lang="en-US" sz="3300" dirty="0" err="1"/>
              <a:t>toleranță</a:t>
            </a:r>
            <a:r>
              <a:rPr lang="en-US" sz="3300" dirty="0"/>
              <a:t> la </a:t>
            </a:r>
            <a:r>
              <a:rPr lang="en-US" sz="3300" dirty="0" err="1"/>
              <a:t>partiționare</a:t>
            </a:r>
            <a:r>
              <a:rPr lang="en-US" sz="3300" dirty="0"/>
              <a:t> </a:t>
            </a:r>
            <a:r>
              <a:rPr lang="en-US" sz="3300" dirty="0" err="1"/>
              <a:t>prin</a:t>
            </a:r>
            <a:r>
              <a:rPr lang="en-US" sz="3300" dirty="0"/>
              <a:t> </a:t>
            </a:r>
            <a:r>
              <a:rPr lang="en-US" sz="3300" dirty="0" err="1"/>
              <a:t>replicare</a:t>
            </a:r>
            <a:r>
              <a:rPr lang="en-US" sz="3300" dirty="0"/>
              <a:t> </a:t>
            </a:r>
            <a:r>
              <a:rPr lang="en-US" sz="3300" dirty="0" err="1"/>
              <a:t>și</a:t>
            </a:r>
            <a:r>
              <a:rPr lang="en-US" sz="3300" dirty="0"/>
              <a:t> sharding:</a:t>
            </a:r>
          </a:p>
          <a:p>
            <a:pPr marL="0" indent="0">
              <a:buNone/>
            </a:pPr>
            <a:r>
              <a:rPr lang="en-US" sz="3300" dirty="0"/>
              <a:t>- Standalone: Nu </a:t>
            </a:r>
            <a:r>
              <a:rPr lang="en-US" sz="3300" dirty="0" err="1"/>
              <a:t>oferă</a:t>
            </a:r>
            <a:r>
              <a:rPr lang="en-US" sz="3300" dirty="0"/>
              <a:t> </a:t>
            </a:r>
            <a:r>
              <a:rPr lang="en-US" sz="3300" dirty="0" err="1"/>
              <a:t>toleranță</a:t>
            </a:r>
            <a:r>
              <a:rPr lang="en-US" sz="3300" dirty="0"/>
              <a:t> la </a:t>
            </a:r>
            <a:r>
              <a:rPr lang="en-US" sz="3300" dirty="0" err="1"/>
              <a:t>partiționare</a:t>
            </a:r>
            <a:r>
              <a:rPr lang="en-US" sz="3300" dirty="0"/>
              <a:t>, </a:t>
            </a:r>
            <a:r>
              <a:rPr lang="en-US" sz="3300" dirty="0" err="1"/>
              <a:t>deoarece</a:t>
            </a:r>
            <a:r>
              <a:rPr lang="en-US" sz="3300" dirty="0"/>
              <a:t> </a:t>
            </a:r>
            <a:r>
              <a:rPr lang="en-US" sz="3300" dirty="0" err="1"/>
              <a:t>este</a:t>
            </a:r>
            <a:r>
              <a:rPr lang="en-US" sz="3300" dirty="0"/>
              <a:t> o </a:t>
            </a:r>
            <a:r>
              <a:rPr lang="en-US" sz="3300" dirty="0" err="1"/>
              <a:t>instanță</a:t>
            </a:r>
            <a:r>
              <a:rPr lang="en-US" sz="3300" dirty="0"/>
              <a:t> </a:t>
            </a:r>
            <a:r>
              <a:rPr lang="en-US" sz="3300" dirty="0" err="1"/>
              <a:t>unică</a:t>
            </a:r>
            <a:r>
              <a:rPr lang="en-US" sz="3300" dirty="0"/>
              <a:t>.</a:t>
            </a:r>
          </a:p>
          <a:p>
            <a:pPr marL="0" indent="0">
              <a:buNone/>
            </a:pPr>
            <a:r>
              <a:rPr lang="en-US" sz="3300" dirty="0"/>
              <a:t>- Replica Set: </a:t>
            </a:r>
            <a:r>
              <a:rPr lang="en-US" sz="3300" dirty="0" err="1"/>
              <a:t>Oferă</a:t>
            </a:r>
            <a:r>
              <a:rPr lang="en-US" sz="3300" dirty="0"/>
              <a:t> </a:t>
            </a:r>
            <a:r>
              <a:rPr lang="en-US" sz="3300" dirty="0" err="1"/>
              <a:t>toleranță</a:t>
            </a:r>
            <a:r>
              <a:rPr lang="en-US" sz="3300" dirty="0"/>
              <a:t> la </a:t>
            </a:r>
            <a:r>
              <a:rPr lang="en-US" sz="3300" dirty="0" err="1"/>
              <a:t>partiționare</a:t>
            </a:r>
            <a:r>
              <a:rPr lang="en-US" sz="3300" dirty="0"/>
              <a:t> </a:t>
            </a:r>
            <a:r>
              <a:rPr lang="en-US" sz="3300" dirty="0" err="1"/>
              <a:t>prin</a:t>
            </a:r>
            <a:r>
              <a:rPr lang="en-US" sz="3300" dirty="0"/>
              <a:t> </a:t>
            </a:r>
            <a:r>
              <a:rPr lang="en-US" sz="3300" dirty="0" err="1"/>
              <a:t>replicare</a:t>
            </a:r>
            <a:r>
              <a:rPr lang="en-US" sz="3300" dirty="0"/>
              <a:t>. </a:t>
            </a:r>
            <a:r>
              <a:rPr lang="en-US" sz="3300" dirty="0" err="1"/>
              <a:t>Dacă</a:t>
            </a:r>
            <a:r>
              <a:rPr lang="en-US" sz="3300" dirty="0"/>
              <a:t> un nod cade, </a:t>
            </a:r>
            <a:r>
              <a:rPr lang="en-US" sz="3300" dirty="0" err="1"/>
              <a:t>unul</a:t>
            </a:r>
            <a:r>
              <a:rPr lang="en-US" sz="3300" dirty="0"/>
              <a:t> </a:t>
            </a:r>
            <a:r>
              <a:rPr lang="en-US" sz="3300" dirty="0" err="1"/>
              <a:t>dintre</a:t>
            </a:r>
            <a:r>
              <a:rPr lang="en-US" sz="3300" dirty="0"/>
              <a:t> </a:t>
            </a:r>
            <a:r>
              <a:rPr lang="en-US" sz="3300" dirty="0" err="1"/>
              <a:t>secundare</a:t>
            </a:r>
            <a:r>
              <a:rPr lang="en-US" sz="3300" dirty="0"/>
              <a:t> </a:t>
            </a:r>
            <a:r>
              <a:rPr lang="en-US" sz="3300" dirty="0" err="1"/>
              <a:t>este</a:t>
            </a:r>
            <a:r>
              <a:rPr lang="en-US" sz="3300" dirty="0"/>
              <a:t> </a:t>
            </a:r>
            <a:r>
              <a:rPr lang="en-US" sz="3300" dirty="0" err="1"/>
              <a:t>promovat</a:t>
            </a:r>
            <a:r>
              <a:rPr lang="en-US" sz="3300" dirty="0"/>
              <a:t> la primary </a:t>
            </a:r>
            <a:r>
              <a:rPr lang="en-US" sz="3300" dirty="0" err="1"/>
              <a:t>printr</a:t>
            </a:r>
            <a:r>
              <a:rPr lang="en-US" sz="3300" dirty="0"/>
              <a:t>-un </a:t>
            </a:r>
            <a:r>
              <a:rPr lang="en-US" sz="3300" dirty="0" err="1"/>
              <a:t>proces</a:t>
            </a:r>
            <a:r>
              <a:rPr lang="en-US" sz="3300" dirty="0"/>
              <a:t> de election automat.</a:t>
            </a:r>
          </a:p>
          <a:p>
            <a:pPr marL="0" indent="0">
              <a:buNone/>
            </a:pPr>
            <a:r>
              <a:rPr lang="en-US" sz="3300" dirty="0"/>
              <a:t>- Sharded Cluster: </a:t>
            </a:r>
            <a:r>
              <a:rPr lang="en-US" sz="3300" dirty="0" err="1"/>
              <a:t>Oferă</a:t>
            </a:r>
            <a:r>
              <a:rPr lang="en-US" sz="3300" dirty="0"/>
              <a:t> </a:t>
            </a:r>
            <a:r>
              <a:rPr lang="en-US" sz="3300" dirty="0" err="1"/>
              <a:t>toleranță</a:t>
            </a:r>
            <a:r>
              <a:rPr lang="en-US" sz="3300" dirty="0"/>
              <a:t> la </a:t>
            </a:r>
            <a:r>
              <a:rPr lang="en-US" sz="3300" dirty="0" err="1"/>
              <a:t>partiționare</a:t>
            </a:r>
            <a:r>
              <a:rPr lang="en-US" sz="3300" dirty="0"/>
              <a:t> </a:t>
            </a:r>
            <a:r>
              <a:rPr lang="en-US" sz="3300" dirty="0" err="1"/>
              <a:t>prin</a:t>
            </a:r>
            <a:r>
              <a:rPr lang="en-US" sz="3300" dirty="0"/>
              <a:t> </a:t>
            </a:r>
            <a:r>
              <a:rPr lang="en-US" sz="3300" dirty="0" err="1"/>
              <a:t>combinarea</a:t>
            </a:r>
            <a:r>
              <a:rPr lang="en-US" sz="3300" dirty="0"/>
              <a:t> </a:t>
            </a:r>
            <a:r>
              <a:rPr lang="en-US" sz="3300" dirty="0" err="1"/>
              <a:t>replicării</a:t>
            </a:r>
            <a:r>
              <a:rPr lang="en-US" sz="3300" dirty="0"/>
              <a:t> </a:t>
            </a:r>
            <a:r>
              <a:rPr lang="en-US" sz="3300" dirty="0" err="1"/>
              <a:t>și</a:t>
            </a:r>
            <a:r>
              <a:rPr lang="en-US" sz="3300" dirty="0"/>
              <a:t> sharding-</a:t>
            </a:r>
            <a:r>
              <a:rPr lang="en-US" sz="3300" dirty="0" err="1"/>
              <a:t>ului</a:t>
            </a:r>
            <a:r>
              <a:rPr lang="en-US" sz="3300" dirty="0"/>
              <a:t>. </a:t>
            </a:r>
            <a:r>
              <a:rPr lang="en-US" sz="3300" dirty="0" err="1"/>
              <a:t>Fiecare</a:t>
            </a:r>
            <a:r>
              <a:rPr lang="en-US" sz="3300" dirty="0"/>
              <a:t> shard </a:t>
            </a:r>
            <a:r>
              <a:rPr lang="en-US" sz="3300" dirty="0" err="1"/>
              <a:t>este</a:t>
            </a:r>
            <a:r>
              <a:rPr lang="en-US" sz="3300" dirty="0"/>
              <a:t> un replica set, </a:t>
            </a:r>
            <a:r>
              <a:rPr lang="en-US" sz="3300" dirty="0" err="1"/>
              <a:t>iar</a:t>
            </a:r>
            <a:r>
              <a:rPr lang="en-US" sz="3300" dirty="0"/>
              <a:t> </a:t>
            </a:r>
            <a:r>
              <a:rPr lang="en-US" sz="3300" dirty="0" err="1"/>
              <a:t>datele</a:t>
            </a:r>
            <a:r>
              <a:rPr lang="en-US" sz="3300" dirty="0"/>
              <a:t> sunt </a:t>
            </a:r>
            <a:r>
              <a:rPr lang="en-US" sz="3300" dirty="0" err="1"/>
              <a:t>distribuite</a:t>
            </a:r>
            <a:r>
              <a:rPr lang="en-US" sz="3300" dirty="0"/>
              <a:t> </a:t>
            </a:r>
            <a:r>
              <a:rPr lang="en-US" sz="3300" dirty="0" err="1"/>
              <a:t>între</a:t>
            </a:r>
            <a:r>
              <a:rPr lang="en-US" sz="3300" dirty="0"/>
              <a:t> shard-</a:t>
            </a:r>
            <a:r>
              <a:rPr lang="en-US" sz="3300" dirty="0" err="1"/>
              <a:t>uri</a:t>
            </a:r>
            <a:r>
              <a:rPr lang="en-US" sz="3300" dirty="0"/>
              <a:t> (</a:t>
            </a:r>
            <a:r>
              <a:rPr lang="en-US" sz="3300" b="1" dirty="0"/>
              <a:t>de balancer</a:t>
            </a:r>
            <a:r>
              <a:rPr lang="en-US" sz="3300" dirty="0"/>
              <a:t>). </a:t>
            </a:r>
            <a:r>
              <a:rPr lang="en-US" sz="3300" dirty="0" err="1"/>
              <a:t>Dacă</a:t>
            </a:r>
            <a:r>
              <a:rPr lang="en-US" sz="3300" dirty="0"/>
              <a:t> un shard </a:t>
            </a:r>
            <a:r>
              <a:rPr lang="en-US" sz="3300" dirty="0" err="1"/>
              <a:t>sau</a:t>
            </a:r>
            <a:r>
              <a:rPr lang="en-US" sz="3300" dirty="0"/>
              <a:t> un nod cade, </a:t>
            </a:r>
            <a:r>
              <a:rPr lang="en-US" sz="3300" dirty="0" err="1"/>
              <a:t>celelalte</a:t>
            </a:r>
            <a:r>
              <a:rPr lang="en-US" sz="3300" dirty="0"/>
              <a:t> </a:t>
            </a:r>
            <a:r>
              <a:rPr lang="en-US" sz="3300" dirty="0" err="1"/>
              <a:t>noduri</a:t>
            </a:r>
            <a:r>
              <a:rPr lang="en-US" sz="3300" dirty="0"/>
              <a:t> </a:t>
            </a:r>
            <a:r>
              <a:rPr lang="en-US" sz="3300" dirty="0" err="1"/>
              <a:t>continuă</a:t>
            </a:r>
            <a:r>
              <a:rPr lang="en-US" sz="3300" dirty="0"/>
              <a:t> </a:t>
            </a:r>
            <a:r>
              <a:rPr lang="en-US" sz="3300" dirty="0" err="1"/>
              <a:t>să</a:t>
            </a:r>
            <a:r>
              <a:rPr lang="en-US" sz="3300" dirty="0"/>
              <a:t> </a:t>
            </a:r>
            <a:r>
              <a:rPr lang="en-US" sz="3300" dirty="0" err="1"/>
              <a:t>funcționeze</a:t>
            </a:r>
            <a:r>
              <a:rPr lang="en-US" sz="3300" dirty="0"/>
              <a:t>, </a:t>
            </a:r>
            <a:r>
              <a:rPr lang="en-US" sz="3300" dirty="0" err="1"/>
              <a:t>iar</a:t>
            </a:r>
            <a:r>
              <a:rPr lang="en-US" sz="3300" dirty="0"/>
              <a:t> </a:t>
            </a:r>
            <a:r>
              <a:rPr lang="en-US" sz="3300" dirty="0" err="1"/>
              <a:t>datele</a:t>
            </a:r>
            <a:r>
              <a:rPr lang="en-US" sz="3300" dirty="0"/>
              <a:t> </a:t>
            </a:r>
            <a:r>
              <a:rPr lang="en-US" sz="3300" dirty="0" err="1"/>
              <a:t>rămân</a:t>
            </a:r>
            <a:r>
              <a:rPr lang="en-US" sz="3300" dirty="0"/>
              <a:t> </a:t>
            </a:r>
            <a:r>
              <a:rPr lang="en-US" sz="3300" dirty="0" err="1"/>
              <a:t>accesibile</a:t>
            </a:r>
            <a:r>
              <a:rPr lang="en-US" sz="3300" dirty="0"/>
              <a:t> (</a:t>
            </a:r>
            <a:r>
              <a:rPr lang="en-US" sz="3300" b="1" dirty="0"/>
              <a:t>node failover</a:t>
            </a:r>
            <a:r>
              <a:rPr lang="en-US" sz="3300" dirty="0"/>
              <a:t>).</a:t>
            </a:r>
          </a:p>
          <a:p>
            <a:pPr marL="0" indent="0">
              <a:buNone/>
            </a:pPr>
            <a:r>
              <a:rPr lang="en-US" sz="3300" dirty="0" err="1"/>
              <a:t>Nodurile</a:t>
            </a:r>
            <a:r>
              <a:rPr lang="en-US" sz="3300" dirty="0"/>
              <a:t> </a:t>
            </a:r>
            <a:r>
              <a:rPr lang="en-US" sz="3300" dirty="0" err="1"/>
              <a:t>comunică</a:t>
            </a:r>
            <a:r>
              <a:rPr lang="en-US" sz="3300" dirty="0"/>
              <a:t> permanent </a:t>
            </a:r>
            <a:r>
              <a:rPr lang="en-US" sz="3300" dirty="0" err="1"/>
              <a:t>între</a:t>
            </a:r>
            <a:r>
              <a:rPr lang="en-US" sz="3300" dirty="0"/>
              <a:t> </a:t>
            </a:r>
            <a:r>
              <a:rPr lang="en-US" sz="3300" dirty="0" err="1"/>
              <a:t>ele</a:t>
            </a:r>
            <a:r>
              <a:rPr lang="en-US" sz="3300" dirty="0"/>
              <a:t> </a:t>
            </a:r>
            <a:r>
              <a:rPr lang="en-US" sz="3300" dirty="0" err="1"/>
              <a:t>printr</a:t>
            </a:r>
            <a:r>
              <a:rPr lang="en-US" sz="3300" dirty="0"/>
              <a:t>-un protocol de heartbeat </a:t>
            </a:r>
            <a:r>
              <a:rPr lang="en-US" sz="3300" dirty="0" err="1"/>
              <a:t>pentru</a:t>
            </a:r>
            <a:r>
              <a:rPr lang="en-US" sz="3300" dirty="0"/>
              <a:t> a </a:t>
            </a:r>
            <a:r>
              <a:rPr lang="en-US" sz="3300" dirty="0" err="1"/>
              <a:t>detecta</a:t>
            </a:r>
            <a:r>
              <a:rPr lang="en-US" sz="3300" dirty="0"/>
              <a:t> </a:t>
            </a:r>
            <a:r>
              <a:rPr lang="en-US" sz="3300" dirty="0" err="1"/>
              <a:t>căderile</a:t>
            </a:r>
            <a:r>
              <a:rPr lang="en-US" sz="3300" dirty="0"/>
              <a:t> </a:t>
            </a:r>
            <a:r>
              <a:rPr lang="en-US" sz="3300" dirty="0" err="1"/>
              <a:t>și</a:t>
            </a:r>
            <a:r>
              <a:rPr lang="en-US" sz="3300" dirty="0"/>
              <a:t> a </a:t>
            </a:r>
            <a:r>
              <a:rPr lang="en-US" sz="3300" dirty="0" err="1"/>
              <a:t>iniția</a:t>
            </a:r>
            <a:r>
              <a:rPr lang="en-US" sz="3300" dirty="0"/>
              <a:t> </a:t>
            </a:r>
            <a:r>
              <a:rPr lang="en-US" sz="3300" dirty="0" err="1"/>
              <a:t>procesele</a:t>
            </a:r>
            <a:r>
              <a:rPr lang="en-US" sz="3300" dirty="0"/>
              <a:t> de election (</a:t>
            </a:r>
            <a:r>
              <a:rPr lang="en-US" sz="3300" dirty="0" err="1"/>
              <a:t>pentru</a:t>
            </a:r>
            <a:r>
              <a:rPr lang="en-US" sz="3300" dirty="0"/>
              <a:t> un nou primary) </a:t>
            </a:r>
            <a:r>
              <a:rPr lang="en-US" sz="3300" dirty="0" err="1"/>
              <a:t>și</a:t>
            </a:r>
            <a:r>
              <a:rPr lang="en-US" sz="3300" dirty="0"/>
              <a:t> failover. </a:t>
            </a:r>
            <a:r>
              <a:rPr lang="en-US" sz="3300" dirty="0" err="1"/>
              <a:t>Duratele</a:t>
            </a:r>
            <a:r>
              <a:rPr lang="en-US" sz="3300" dirty="0"/>
              <a:t> </a:t>
            </a:r>
            <a:r>
              <a:rPr lang="en-US" sz="3300" dirty="0" err="1"/>
              <a:t>standart</a:t>
            </a:r>
            <a:r>
              <a:rPr lang="en-US" sz="3300" dirty="0"/>
              <a:t> </a:t>
            </a:r>
            <a:r>
              <a:rPr lang="en-US" sz="3300" dirty="0" err="1"/>
              <a:t>pentru</a:t>
            </a:r>
            <a:r>
              <a:rPr lang="en-US" sz="3300" dirty="0"/>
              <a:t> election </a:t>
            </a:r>
            <a:r>
              <a:rPr lang="en-US" sz="3300" dirty="0" err="1"/>
              <a:t>și</a:t>
            </a:r>
            <a:r>
              <a:rPr lang="en-US" sz="3300" dirty="0"/>
              <a:t> failover sunt de </a:t>
            </a:r>
            <a:r>
              <a:rPr lang="en-US" sz="3300" dirty="0" err="1"/>
              <a:t>ordinul</a:t>
            </a:r>
            <a:r>
              <a:rPr lang="en-US" sz="3300" dirty="0"/>
              <a:t> </a:t>
            </a:r>
            <a:r>
              <a:rPr lang="en-US" sz="3300" dirty="0" err="1"/>
              <a:t>secundelor</a:t>
            </a:r>
            <a:r>
              <a:rPr lang="en-US" sz="3300" dirty="0"/>
              <a:t> (</a:t>
            </a:r>
            <a:r>
              <a:rPr lang="en-US" sz="3300" dirty="0" err="1"/>
              <a:t>undeva</a:t>
            </a:r>
            <a:r>
              <a:rPr lang="en-US" sz="3300" dirty="0"/>
              <a:t> la 12), </a:t>
            </a:r>
            <a:r>
              <a:rPr lang="en-US" sz="3300" dirty="0" err="1"/>
              <a:t>dar</a:t>
            </a:r>
            <a:r>
              <a:rPr lang="en-US" sz="3300" dirty="0"/>
              <a:t> pot varia </a:t>
            </a:r>
            <a:r>
              <a:rPr lang="en-US" sz="3300" dirty="0" err="1"/>
              <a:t>în</a:t>
            </a:r>
            <a:r>
              <a:rPr lang="en-US" sz="3300" dirty="0"/>
              <a:t> </a:t>
            </a:r>
            <a:r>
              <a:rPr lang="en-US" sz="3300" dirty="0" err="1"/>
              <a:t>funcție</a:t>
            </a:r>
            <a:r>
              <a:rPr lang="en-US" sz="3300" dirty="0"/>
              <a:t> de </a:t>
            </a:r>
            <a:r>
              <a:rPr lang="en-US" sz="3300" dirty="0" err="1"/>
              <a:t>configurație</a:t>
            </a:r>
            <a:r>
              <a:rPr lang="en-US" sz="3300" dirty="0"/>
              <a:t> </a:t>
            </a:r>
            <a:r>
              <a:rPr lang="en-US" sz="3300" dirty="0" err="1"/>
              <a:t>și</a:t>
            </a:r>
            <a:r>
              <a:rPr lang="en-US" sz="3300" dirty="0"/>
              <a:t> de </a:t>
            </a:r>
            <a:r>
              <a:rPr lang="en-US" sz="3300" dirty="0" err="1"/>
              <a:t>condițiile</a:t>
            </a:r>
            <a:r>
              <a:rPr lang="en-US" sz="3300" dirty="0"/>
              <a:t> </a:t>
            </a:r>
            <a:r>
              <a:rPr lang="en-US" sz="3300" dirty="0" err="1"/>
              <a:t>rețelei</a:t>
            </a:r>
            <a:r>
              <a:rPr lang="en-US" sz="3300" dirty="0"/>
              <a:t>. </a:t>
            </a:r>
            <a:r>
              <a:rPr lang="en-US" sz="3300" dirty="0" err="1"/>
              <a:t>Pentru</a:t>
            </a:r>
            <a:r>
              <a:rPr lang="en-US" sz="3300" dirty="0"/>
              <a:t> Mongo, election timeout-ul (</a:t>
            </a:r>
            <a:r>
              <a:rPr lang="en-US" sz="3300" dirty="0" err="1"/>
              <a:t>cât</a:t>
            </a:r>
            <a:r>
              <a:rPr lang="en-US" sz="3300" dirty="0"/>
              <a:t> </a:t>
            </a:r>
            <a:r>
              <a:rPr lang="en-US" sz="3300" dirty="0" err="1"/>
              <a:t>timp</a:t>
            </a:r>
            <a:r>
              <a:rPr lang="en-US" sz="3300" dirty="0"/>
              <a:t> </a:t>
            </a:r>
            <a:r>
              <a:rPr lang="en-US" sz="3300" dirty="0" err="1"/>
              <a:t>așteaptă</a:t>
            </a:r>
            <a:r>
              <a:rPr lang="en-US" sz="3300" dirty="0"/>
              <a:t> un nod </a:t>
            </a:r>
            <a:r>
              <a:rPr lang="en-US" sz="3300" dirty="0" err="1"/>
              <a:t>înainte</a:t>
            </a:r>
            <a:r>
              <a:rPr lang="en-US" sz="3300" dirty="0"/>
              <a:t> </a:t>
            </a:r>
            <a:r>
              <a:rPr lang="en-US" sz="3300" dirty="0" err="1"/>
              <a:t>să</a:t>
            </a:r>
            <a:r>
              <a:rPr lang="en-US" sz="3300" dirty="0"/>
              <a:t> </a:t>
            </a:r>
            <a:r>
              <a:rPr lang="en-US" sz="3300" dirty="0" err="1"/>
              <a:t>inițieze</a:t>
            </a:r>
            <a:r>
              <a:rPr lang="en-US" sz="3300" dirty="0"/>
              <a:t> un election) implicit </a:t>
            </a:r>
            <a:r>
              <a:rPr lang="en-US" sz="3300" dirty="0" err="1"/>
              <a:t>este</a:t>
            </a:r>
            <a:r>
              <a:rPr lang="en-US" sz="3300" dirty="0"/>
              <a:t> de 10 </a:t>
            </a:r>
            <a:r>
              <a:rPr lang="en-US" sz="3300" dirty="0" err="1"/>
              <a:t>secunde</a:t>
            </a:r>
            <a:r>
              <a:rPr lang="en-US" sz="3300" dirty="0"/>
              <a:t>, </a:t>
            </a:r>
            <a:r>
              <a:rPr lang="en-US" sz="3300" dirty="0" err="1"/>
              <a:t>iar</a:t>
            </a:r>
            <a:r>
              <a:rPr lang="en-US" sz="3300" dirty="0"/>
              <a:t> failover-ul </a:t>
            </a:r>
            <a:r>
              <a:rPr lang="en-US" sz="3300" dirty="0" err="1"/>
              <a:t>poate</a:t>
            </a:r>
            <a:r>
              <a:rPr lang="en-US" sz="3300" dirty="0"/>
              <a:t> dura </a:t>
            </a:r>
            <a:r>
              <a:rPr lang="en-US" sz="3300" dirty="0" err="1"/>
              <a:t>câteva</a:t>
            </a:r>
            <a:r>
              <a:rPr lang="en-US" sz="3300" dirty="0"/>
              <a:t> </a:t>
            </a:r>
            <a:r>
              <a:rPr lang="en-US" sz="3300" dirty="0" err="1"/>
              <a:t>secunde</a:t>
            </a:r>
            <a:r>
              <a:rPr lang="en-US" sz="3300" dirty="0"/>
              <a:t> </a:t>
            </a:r>
            <a:r>
              <a:rPr lang="en-US" sz="3300" dirty="0" err="1"/>
              <a:t>după</a:t>
            </a:r>
            <a:r>
              <a:rPr lang="en-US" sz="3300" dirty="0"/>
              <a:t> </a:t>
            </a:r>
            <a:r>
              <a:rPr lang="en-US" sz="3300" dirty="0" err="1"/>
              <a:t>detectarea</a:t>
            </a:r>
            <a:r>
              <a:rPr lang="en-US" sz="3300" dirty="0"/>
              <a:t> </a:t>
            </a:r>
            <a:r>
              <a:rPr lang="en-US" sz="3300" dirty="0" err="1"/>
              <a:t>căderii</a:t>
            </a:r>
            <a:r>
              <a:rPr lang="en-US" sz="3300" dirty="0"/>
              <a:t>. De </a:t>
            </a:r>
            <a:r>
              <a:rPr lang="en-US" sz="3300" dirty="0" err="1"/>
              <a:t>asemenea</a:t>
            </a:r>
            <a:r>
              <a:rPr lang="en-US" sz="3300" dirty="0"/>
              <a:t>, heartbeat time-out (</a:t>
            </a:r>
            <a:r>
              <a:rPr lang="en-US" sz="3300" dirty="0" err="1"/>
              <a:t>timpul</a:t>
            </a:r>
            <a:r>
              <a:rPr lang="en-US" sz="3300" dirty="0"/>
              <a:t> </a:t>
            </a:r>
            <a:r>
              <a:rPr lang="en-US" sz="3300" dirty="0" err="1"/>
              <a:t>după</a:t>
            </a:r>
            <a:r>
              <a:rPr lang="en-US" sz="3300" dirty="0"/>
              <a:t> care un nod </a:t>
            </a:r>
            <a:r>
              <a:rPr lang="en-US" sz="3300" dirty="0" err="1"/>
              <a:t>este</a:t>
            </a:r>
            <a:r>
              <a:rPr lang="en-US" sz="3300" dirty="0"/>
              <a:t> </a:t>
            </a:r>
            <a:r>
              <a:rPr lang="en-US" sz="3300" dirty="0" err="1"/>
              <a:t>considerat</a:t>
            </a:r>
            <a:r>
              <a:rPr lang="en-US" sz="3300" dirty="0"/>
              <a:t> </a:t>
            </a:r>
            <a:r>
              <a:rPr lang="en-US" sz="3300" dirty="0" err="1"/>
              <a:t>căzut</a:t>
            </a:r>
            <a:r>
              <a:rPr lang="en-US" sz="3300" dirty="0"/>
              <a:t> </a:t>
            </a:r>
            <a:r>
              <a:rPr lang="en-US" sz="3300" dirty="0" err="1"/>
              <a:t>dacă</a:t>
            </a:r>
            <a:r>
              <a:rPr lang="en-US" sz="3300" dirty="0"/>
              <a:t> nu </a:t>
            </a:r>
            <a:r>
              <a:rPr lang="en-US" sz="3300" dirty="0" err="1"/>
              <a:t>răspunde</a:t>
            </a:r>
            <a:r>
              <a:rPr lang="en-US" sz="3300" dirty="0"/>
              <a:t>) </a:t>
            </a:r>
            <a:r>
              <a:rPr lang="en-US" sz="3300" dirty="0" err="1"/>
              <a:t>este</a:t>
            </a:r>
            <a:r>
              <a:rPr lang="en-US" sz="3300" dirty="0"/>
              <a:t> de 10 </a:t>
            </a:r>
            <a:r>
              <a:rPr lang="en-US" sz="3300" dirty="0" err="1"/>
              <a:t>secunde</a:t>
            </a:r>
            <a:r>
              <a:rPr lang="en-US" sz="3300" dirty="0"/>
              <a:t> implicit, </a:t>
            </a:r>
            <a:r>
              <a:rPr lang="en-US" sz="3300" dirty="0" err="1"/>
              <a:t>iar</a:t>
            </a:r>
            <a:r>
              <a:rPr lang="en-US" sz="3300" dirty="0"/>
              <a:t> </a:t>
            </a:r>
            <a:r>
              <a:rPr lang="en-US" sz="3300" dirty="0" err="1"/>
              <a:t>intervalul</a:t>
            </a:r>
            <a:r>
              <a:rPr lang="en-US" sz="3300" dirty="0"/>
              <a:t> de heartbeat (</a:t>
            </a:r>
            <a:r>
              <a:rPr lang="en-US" sz="3300" dirty="0" err="1"/>
              <a:t>între</a:t>
            </a:r>
            <a:r>
              <a:rPr lang="en-US" sz="3300" dirty="0"/>
              <a:t> heartbeat-</a:t>
            </a:r>
            <a:r>
              <a:rPr lang="en-US" sz="3300" dirty="0" err="1"/>
              <a:t>uri</a:t>
            </a:r>
            <a:r>
              <a:rPr lang="en-US" sz="3300" dirty="0"/>
              <a:t>) </a:t>
            </a:r>
            <a:r>
              <a:rPr lang="en-US" sz="3300" dirty="0" err="1"/>
              <a:t>este</a:t>
            </a:r>
            <a:r>
              <a:rPr lang="en-US" sz="3300" dirty="0"/>
              <a:t> de 2 </a:t>
            </a:r>
            <a:r>
              <a:rPr lang="en-US" sz="3300" dirty="0" err="1"/>
              <a:t>secunde</a:t>
            </a:r>
            <a:r>
              <a:rPr lang="en-US" sz="3300" dirty="0"/>
              <a:t>. Exact </a:t>
            </a:r>
            <a:r>
              <a:rPr lang="en-US" sz="3300" dirty="0" err="1"/>
              <a:t>aceleași</a:t>
            </a:r>
            <a:r>
              <a:rPr lang="en-US" sz="3300" dirty="0"/>
              <a:t> </a:t>
            </a:r>
            <a:r>
              <a:rPr lang="en-US" sz="3300" dirty="0" err="1"/>
              <a:t>valori</a:t>
            </a:r>
            <a:r>
              <a:rPr lang="en-US" sz="3300" dirty="0"/>
              <a:t> sunt redate </a:t>
            </a:r>
            <a:r>
              <a:rPr lang="en-US" sz="3300" dirty="0" err="1"/>
              <a:t>și</a:t>
            </a:r>
            <a:r>
              <a:rPr lang="en-US" sz="3300" dirty="0"/>
              <a:t> </a:t>
            </a:r>
            <a:r>
              <a:rPr lang="en-US" sz="3300" dirty="0" err="1"/>
              <a:t>pentru</a:t>
            </a:r>
            <a:r>
              <a:rPr lang="en-US" sz="3300" dirty="0"/>
              <a:t> Sharded Cluster-ul </a:t>
            </a:r>
            <a:r>
              <a:rPr lang="en-US" sz="3300" dirty="0" err="1"/>
              <a:t>nostru</a:t>
            </a:r>
            <a:r>
              <a:rPr lang="en-US" sz="3300" dirty="0"/>
              <a:t>. Election-ul </a:t>
            </a:r>
            <a:r>
              <a:rPr lang="en-US" sz="3300" dirty="0" err="1"/>
              <a:t>este</a:t>
            </a:r>
            <a:r>
              <a:rPr lang="en-US" sz="3300" dirty="0"/>
              <a:t> </a:t>
            </a:r>
            <a:r>
              <a:rPr lang="en-US" sz="3300" dirty="0" err="1"/>
              <a:t>chemat</a:t>
            </a:r>
            <a:r>
              <a:rPr lang="en-US" sz="3300" dirty="0"/>
              <a:t> de </a:t>
            </a:r>
            <a:r>
              <a:rPr lang="en-US" sz="3300" dirty="0" err="1"/>
              <a:t>către</a:t>
            </a:r>
            <a:r>
              <a:rPr lang="en-US" sz="3300" dirty="0"/>
              <a:t> un secondary, </a:t>
            </a:r>
            <a:r>
              <a:rPr lang="en-US" sz="3300" dirty="0" err="1"/>
              <a:t>atunci</a:t>
            </a:r>
            <a:r>
              <a:rPr lang="en-US" sz="3300" dirty="0"/>
              <a:t> </a:t>
            </a:r>
            <a:r>
              <a:rPr lang="en-US" sz="3300" dirty="0" err="1"/>
              <a:t>când</a:t>
            </a:r>
            <a:r>
              <a:rPr lang="en-US" sz="3300" dirty="0"/>
              <a:t> primary nu </a:t>
            </a:r>
            <a:r>
              <a:rPr lang="en-US" sz="3300" dirty="0" err="1"/>
              <a:t>răspunde</a:t>
            </a:r>
            <a:r>
              <a:rPr lang="en-US" sz="3300" dirty="0"/>
              <a:t>. </a:t>
            </a:r>
            <a:r>
              <a:rPr lang="en-US" sz="3300" dirty="0" err="1"/>
              <a:t>Procesul</a:t>
            </a:r>
            <a:r>
              <a:rPr lang="en-US" sz="3300" dirty="0"/>
              <a:t> de election </a:t>
            </a:r>
            <a:r>
              <a:rPr lang="en-US" sz="3300" dirty="0" err="1"/>
              <a:t>continuă</a:t>
            </a:r>
            <a:r>
              <a:rPr lang="en-US" sz="3300" dirty="0"/>
              <a:t> </a:t>
            </a:r>
            <a:r>
              <a:rPr lang="en-US" sz="3300" dirty="0" err="1"/>
              <a:t>până</a:t>
            </a:r>
            <a:r>
              <a:rPr lang="en-US" sz="3300" dirty="0"/>
              <a:t> </a:t>
            </a:r>
            <a:r>
              <a:rPr lang="en-US" sz="3300" dirty="0" err="1"/>
              <a:t>când</a:t>
            </a:r>
            <a:r>
              <a:rPr lang="en-US" sz="3300" dirty="0"/>
              <a:t> </a:t>
            </a:r>
            <a:r>
              <a:rPr lang="en-US" sz="3300" dirty="0" err="1"/>
              <a:t>nodul</a:t>
            </a:r>
            <a:r>
              <a:rPr lang="en-US" sz="3300" dirty="0"/>
              <a:t> </a:t>
            </a:r>
            <a:r>
              <a:rPr lang="en-US" sz="3300" dirty="0" err="1"/>
              <a:t>secundar</a:t>
            </a:r>
            <a:r>
              <a:rPr lang="en-US" sz="3300" dirty="0"/>
              <a:t> cu </a:t>
            </a:r>
            <a:r>
              <a:rPr lang="en-US" sz="3300" dirty="0" err="1"/>
              <a:t>cea</a:t>
            </a:r>
            <a:r>
              <a:rPr lang="en-US" sz="3300" dirty="0"/>
              <a:t> </a:t>
            </a:r>
            <a:r>
              <a:rPr lang="en-US" sz="3300" dirty="0" err="1"/>
              <a:t>mai</a:t>
            </a:r>
            <a:r>
              <a:rPr lang="en-US" sz="3300" dirty="0"/>
              <a:t> mare </a:t>
            </a:r>
            <a:r>
              <a:rPr lang="en-US" sz="3300" dirty="0" err="1"/>
              <a:t>prioritate</a:t>
            </a:r>
            <a:r>
              <a:rPr lang="en-US" sz="3300" dirty="0"/>
              <a:t> e ales.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4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9CD202-3819-CF68-4802-6BF4BD1C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ACID vs CAP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3B163D6-EEAB-55D7-D185-837793564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err="1"/>
              <a:t>Disponibilitate</a:t>
            </a:r>
            <a:r>
              <a:rPr lang="en-US" sz="2000" b="1" dirty="0"/>
              <a:t> CAP:</a:t>
            </a:r>
          </a:p>
          <a:p>
            <a:pPr marL="0" indent="0">
              <a:buNone/>
            </a:pPr>
            <a:r>
              <a:rPr lang="en-US" sz="2000" dirty="0"/>
              <a:t> Se </a:t>
            </a:r>
            <a:r>
              <a:rPr lang="en-US" sz="2000" dirty="0" err="1"/>
              <a:t>pierde</a:t>
            </a:r>
            <a:r>
              <a:rPr lang="en-US" sz="2000" dirty="0"/>
              <a:t> la </a:t>
            </a:r>
            <a:r>
              <a:rPr lang="en-US" sz="2000" dirty="0" err="1"/>
              <a:t>caderea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primary (</a:t>
            </a:r>
            <a:r>
              <a:rPr lang="en-US" sz="2000" dirty="0" err="1"/>
              <a:t>scrierea</a:t>
            </a:r>
            <a:r>
              <a:rPr lang="en-US" sz="2000" dirty="0"/>
              <a:t>; </a:t>
            </a:r>
            <a:r>
              <a:rPr lang="en-US" sz="2000" dirty="0" err="1"/>
              <a:t>citirea</a:t>
            </a:r>
            <a:r>
              <a:rPr lang="en-US" sz="2000" dirty="0"/>
              <a:t> de pe Primary) </a:t>
            </a:r>
            <a:r>
              <a:rPr lang="en-US" sz="2000" dirty="0" err="1"/>
              <a:t>pentru</a:t>
            </a:r>
            <a:r>
              <a:rPr lang="en-US" sz="2000" dirty="0"/>
              <a:t> MongoDB. Este </a:t>
            </a:r>
            <a:r>
              <a:rPr lang="en-US" sz="2000" dirty="0" err="1"/>
              <a:t>totală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Oracle (</a:t>
            </a:r>
            <a:r>
              <a:rPr lang="en-US" sz="2000" dirty="0" err="1"/>
              <a:t>respectiv</a:t>
            </a:r>
            <a:r>
              <a:rPr lang="en-US" sz="2000" dirty="0"/>
              <a:t>, </a:t>
            </a:r>
            <a:r>
              <a:rPr lang="en-US" sz="2000" dirty="0" err="1"/>
              <a:t>StandAlone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5459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910D924-09D3-96AA-CF64-0B91ADD6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ACID vs CAP</a:t>
            </a:r>
            <a:endParaRPr lang="en-US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6942DCB-B360-7D48-E9AD-6A863D57F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Consistența</a:t>
            </a:r>
            <a:r>
              <a:rPr lang="en-US" b="1" dirty="0"/>
              <a:t> ACID</a:t>
            </a:r>
          </a:p>
          <a:p>
            <a:pPr marL="0" indent="0">
              <a:buNone/>
            </a:pPr>
            <a:r>
              <a:rPr lang="en-US" dirty="0" err="1"/>
              <a:t>Pentru</a:t>
            </a:r>
            <a:r>
              <a:rPr lang="en-US" dirty="0"/>
              <a:t> Oracle, </a:t>
            </a:r>
            <a:r>
              <a:rPr lang="en-US" dirty="0" err="1"/>
              <a:t>consistența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determinată</a:t>
            </a:r>
            <a:r>
              <a:rPr lang="en-US" dirty="0"/>
              <a:t> de schema </a:t>
            </a:r>
            <a:r>
              <a:rPr lang="en-US" dirty="0" err="1"/>
              <a:t>strictă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constrângerile</a:t>
            </a:r>
            <a:r>
              <a:rPr lang="en-US" dirty="0"/>
              <a:t> </a:t>
            </a:r>
            <a:r>
              <a:rPr lang="en-US" dirty="0" err="1"/>
              <a:t>referitoare</a:t>
            </a:r>
            <a:r>
              <a:rPr lang="en-US" dirty="0"/>
              <a:t> la </a:t>
            </a:r>
            <a:r>
              <a:rPr lang="en-US" dirty="0" err="1"/>
              <a:t>atribute</a:t>
            </a:r>
            <a:r>
              <a:rPr lang="en-US" dirty="0"/>
              <a:t>, </a:t>
            </a:r>
            <a:r>
              <a:rPr lang="en-US" dirty="0" err="1"/>
              <a:t>impuse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 de date, care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normalizate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relațiile</a:t>
            </a:r>
            <a:r>
              <a:rPr lang="en-US" dirty="0"/>
              <a:t> bine definite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 Orice </a:t>
            </a:r>
            <a:r>
              <a:rPr lang="en-US" dirty="0" err="1"/>
              <a:t>tranzacție</a:t>
            </a:r>
            <a:r>
              <a:rPr lang="en-US" dirty="0"/>
              <a:t> care </a:t>
            </a:r>
            <a:r>
              <a:rPr lang="en-US" dirty="0" err="1"/>
              <a:t>încalcă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constrângeri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respinsă</a:t>
            </a:r>
            <a:r>
              <a:rPr lang="en-US" dirty="0"/>
              <a:t>, </a:t>
            </a:r>
            <a:r>
              <a:rPr lang="en-US" dirty="0" err="1"/>
              <a:t>asigurând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rămâne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stare </a:t>
            </a:r>
            <a:r>
              <a:rPr lang="en-US" dirty="0" err="1"/>
              <a:t>validă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tranzacție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MongoDB, </a:t>
            </a:r>
            <a:r>
              <a:rPr lang="en-US" dirty="0" err="1"/>
              <a:t>consistența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gestionată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aplicație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nu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constrângeri</a:t>
            </a:r>
            <a:r>
              <a:rPr lang="en-US" dirty="0"/>
              <a:t> de </a:t>
            </a:r>
            <a:r>
              <a:rPr lang="en-US" dirty="0" err="1"/>
              <a:t>integritate</a:t>
            </a:r>
            <a:r>
              <a:rPr lang="en-US" dirty="0"/>
              <a:t> </a:t>
            </a:r>
            <a:r>
              <a:rPr lang="en-US" dirty="0" err="1"/>
              <a:t>referențială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SGBD, </a:t>
            </a:r>
            <a:r>
              <a:rPr lang="en-US" dirty="0" err="1"/>
              <a:t>putând</a:t>
            </a:r>
            <a:r>
              <a:rPr lang="en-US" dirty="0"/>
              <a:t> </a:t>
            </a:r>
            <a:r>
              <a:rPr lang="en-US" dirty="0" err="1"/>
              <a:t>insera</a:t>
            </a:r>
            <a:r>
              <a:rPr lang="en-US" dirty="0"/>
              <a:t>, in </a:t>
            </a:r>
            <a:r>
              <a:rPr lang="en-US"/>
              <a:t>principiu</a:t>
            </a:r>
            <a:r>
              <a:rPr lang="en-US" dirty="0"/>
              <a:t>, cam </a:t>
            </a:r>
            <a:r>
              <a:rPr lang="en-US" dirty="0" err="1"/>
              <a:t>orice</a:t>
            </a:r>
            <a:r>
              <a:rPr lang="en-US" dirty="0"/>
              <a:t>. </a:t>
            </a:r>
            <a:r>
              <a:rPr lang="en-US" b="1" dirty="0" err="1"/>
              <a:t>Indecșii</a:t>
            </a:r>
            <a:r>
              <a:rPr lang="en-US" b="1" dirty="0"/>
              <a:t> pot fi </a:t>
            </a:r>
            <a:r>
              <a:rPr lang="en-US" b="1" dirty="0" err="1"/>
              <a:t>utilizati</a:t>
            </a:r>
            <a:r>
              <a:rPr lang="en-US" b="1" dirty="0"/>
              <a:t> la </a:t>
            </a:r>
            <a:r>
              <a:rPr lang="en-US" b="1" dirty="0" err="1"/>
              <a:t>impunerea</a:t>
            </a:r>
            <a:r>
              <a:rPr lang="en-US" b="1" dirty="0"/>
              <a:t> </a:t>
            </a:r>
            <a:r>
              <a:rPr lang="en-US" b="1" dirty="0" err="1"/>
              <a:t>unor</a:t>
            </a:r>
            <a:r>
              <a:rPr lang="en-US" b="1" dirty="0"/>
              <a:t> </a:t>
            </a:r>
            <a:r>
              <a:rPr lang="en-US" b="1" dirty="0" err="1"/>
              <a:t>constrângeri</a:t>
            </a:r>
            <a:r>
              <a:rPr lang="en-US" b="1" dirty="0"/>
              <a:t> de </a:t>
            </a:r>
            <a:r>
              <a:rPr lang="en-US" b="1" dirty="0" err="1"/>
              <a:t>unicitate</a:t>
            </a:r>
            <a:r>
              <a:rPr lang="en-US" b="1" dirty="0"/>
              <a:t>, </a:t>
            </a:r>
            <a:r>
              <a:rPr lang="en-US" b="1" dirty="0" err="1"/>
              <a:t>dar</a:t>
            </a:r>
            <a:r>
              <a:rPr lang="en-US" b="1" dirty="0"/>
              <a:t> nu </a:t>
            </a:r>
            <a:r>
              <a:rPr lang="en-US" b="1" dirty="0" err="1"/>
              <a:t>există</a:t>
            </a:r>
            <a:r>
              <a:rPr lang="en-US" b="1" dirty="0"/>
              <a:t> </a:t>
            </a:r>
            <a:r>
              <a:rPr lang="en-US" b="1" dirty="0" err="1"/>
              <a:t>mecanisme</a:t>
            </a:r>
            <a:r>
              <a:rPr lang="en-US" b="1" dirty="0"/>
              <a:t> </a:t>
            </a:r>
            <a:r>
              <a:rPr lang="en-US" b="1" dirty="0" err="1"/>
              <a:t>puternice</a:t>
            </a:r>
            <a:r>
              <a:rPr lang="en-US" b="1" dirty="0"/>
              <a:t> automate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menține</a:t>
            </a:r>
            <a:r>
              <a:rPr lang="en-US" b="1" dirty="0"/>
              <a:t> </a:t>
            </a:r>
            <a:r>
              <a:rPr lang="en-US" b="1" dirty="0" err="1"/>
              <a:t>relațiile</a:t>
            </a:r>
            <a:r>
              <a:rPr lang="en-US" b="1" dirty="0"/>
              <a:t> </a:t>
            </a:r>
            <a:r>
              <a:rPr lang="en-US" b="1" dirty="0" err="1"/>
              <a:t>între</a:t>
            </a:r>
            <a:r>
              <a:rPr lang="en-US" b="1" dirty="0"/>
              <a:t> </a:t>
            </a:r>
            <a:r>
              <a:rPr lang="en-US" b="1" dirty="0" err="1"/>
              <a:t>documente</a:t>
            </a:r>
            <a:r>
              <a:rPr lang="en-US" b="1" dirty="0"/>
              <a:t> (global) </a:t>
            </a:r>
            <a:r>
              <a:rPr lang="en-US" b="1" dirty="0" err="1"/>
              <a:t>sau</a:t>
            </a:r>
            <a:r>
              <a:rPr lang="en-US" b="1" dirty="0"/>
              <a:t> la </a:t>
            </a:r>
            <a:r>
              <a:rPr lang="en-US" b="1" dirty="0" err="1"/>
              <a:t>nivel</a:t>
            </a:r>
            <a:r>
              <a:rPr lang="en-US" b="1" dirty="0"/>
              <a:t> de sharding.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, in MongoDB, </a:t>
            </a:r>
            <a:r>
              <a:rPr lang="en-US" dirty="0" err="1"/>
              <a:t>consistența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asigurată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scriptul</a:t>
            </a:r>
            <a:r>
              <a:rPr lang="en-US" dirty="0"/>
              <a:t> de </a:t>
            </a:r>
            <a:r>
              <a:rPr lang="en-US" dirty="0" err="1"/>
              <a:t>populare</a:t>
            </a:r>
            <a:r>
              <a:rPr lang="en-US" dirty="0"/>
              <a:t> a </a:t>
            </a:r>
            <a:r>
              <a:rPr lang="en-US" dirty="0" err="1"/>
              <a:t>datelor</a:t>
            </a:r>
            <a:r>
              <a:rPr lang="en-US" dirty="0"/>
              <a:t>, care </a:t>
            </a:r>
            <a:r>
              <a:rPr lang="en-US" dirty="0" err="1"/>
              <a:t>respectă</a:t>
            </a:r>
            <a:r>
              <a:rPr lang="en-US" dirty="0"/>
              <a:t> </a:t>
            </a:r>
            <a:r>
              <a:rPr lang="en-US" dirty="0" err="1"/>
              <a:t>relațiile</a:t>
            </a:r>
            <a:r>
              <a:rPr lang="en-US" dirty="0"/>
              <a:t> definite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relațional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de </a:t>
            </a:r>
            <a:r>
              <a:rPr lang="en-US" dirty="0" err="1"/>
              <a:t>constrângerea</a:t>
            </a:r>
            <a:r>
              <a:rPr lang="en-US" dirty="0"/>
              <a:t> </a:t>
            </a:r>
            <a:r>
              <a:rPr lang="en-US" dirty="0" err="1"/>
              <a:t>implicită</a:t>
            </a:r>
            <a:r>
              <a:rPr lang="en-US" dirty="0"/>
              <a:t> a </a:t>
            </a:r>
            <a:r>
              <a:rPr lang="en-US" dirty="0" err="1"/>
              <a:t>cheilor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</a:t>
            </a:r>
            <a:r>
              <a:rPr lang="en-US" dirty="0" err="1"/>
              <a:t>unice</a:t>
            </a:r>
            <a:r>
              <a:rPr lang="en-US" dirty="0"/>
              <a:t> (_id).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7DD1005-00C7-0903-0D02-3083AB62B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Complexitate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performanță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AEA08DC6-AA8D-AEB1-5B35-B08173001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4826"/>
            <a:ext cx="10515600" cy="2192936"/>
          </a:xfrm>
        </p:spPr>
      </p:pic>
    </p:spTree>
    <p:extLst>
      <p:ext uri="{BB962C8B-B14F-4D97-AF65-F5344CB8AC3E}">
        <p14:creationId xmlns:p14="http://schemas.microsoft.com/office/powerpoint/2010/main" val="860940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869</Words>
  <Application>Microsoft Office PowerPoint</Application>
  <PresentationFormat>Ecran lat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Temă Office</vt:lpstr>
      <vt:lpstr>Relational vs NoSQL </vt:lpstr>
      <vt:lpstr>Decizii arhitecturale </vt:lpstr>
      <vt:lpstr>Decizii de modelare pentru ORACLE (FN3) </vt:lpstr>
      <vt:lpstr>Decizii de modelare pentru MongoDB (denormalizare: Embedding, Extended Reference Pattern și Subset Pattern) </vt:lpstr>
      <vt:lpstr>Diferențe cheie de modelare și arhitectură între SQL și NoSQL (Oracle vs MongoDB) </vt:lpstr>
      <vt:lpstr>ACID vs CAP </vt:lpstr>
      <vt:lpstr>ACID vs CAP</vt:lpstr>
      <vt:lpstr>ACID vs CAP</vt:lpstr>
      <vt:lpstr>ACID vs CAP</vt:lpstr>
      <vt:lpstr>Complexitate și performanță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Telu Mihai</dc:creator>
  <cp:lastModifiedBy>Telu Mihai</cp:lastModifiedBy>
  <cp:revision>19</cp:revision>
  <dcterms:created xsi:type="dcterms:W3CDTF">2026-01-22T17:13:35Z</dcterms:created>
  <dcterms:modified xsi:type="dcterms:W3CDTF">2026-01-22T18:58:33Z</dcterms:modified>
</cp:coreProperties>
</file>